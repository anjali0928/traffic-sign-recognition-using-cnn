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D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67116-1D1F-4697-909B-48516FCB659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E8F7E-45E1-4846-85A3-ED0B2B27B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93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E8F7E-45E1-4846-85A3-ED0B2B27BE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66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10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3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1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51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21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49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89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10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9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7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56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508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53" r:id="rId6"/>
    <p:sldLayoutId id="2147483758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jcnn2011.or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dx.doi.org/10.1016/j.neunet.2012.02.016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0C120-541E-1F37-EB37-B1778E8FB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676656"/>
            <a:ext cx="6146193" cy="3063240"/>
          </a:xfrm>
        </p:spPr>
        <p:txBody>
          <a:bodyPr>
            <a:normAutofit/>
          </a:bodyPr>
          <a:lstStyle/>
          <a:p>
            <a:r>
              <a:rPr lang="en-US" dirty="0"/>
              <a:t>Traffic Sign Recognition Using Convolutional Neural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A5463-D8A7-4A37-437D-EE4EF8DAA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8" y="3739896"/>
            <a:ext cx="6146193" cy="2340864"/>
          </a:xfrm>
        </p:spPr>
        <p:txBody>
          <a:bodyPr>
            <a:noAutofit/>
          </a:bodyPr>
          <a:lstStyle/>
          <a:p>
            <a:endParaRPr lang="en-US" sz="1800" dirty="0"/>
          </a:p>
          <a:p>
            <a:r>
              <a:rPr lang="en-US" dirty="0"/>
              <a:t>Submitted By:</a:t>
            </a:r>
          </a:p>
          <a:p>
            <a:r>
              <a:rPr lang="en-US" dirty="0"/>
              <a:t>Anjali Sharma</a:t>
            </a:r>
          </a:p>
          <a:p>
            <a:r>
              <a:rPr lang="en-US" dirty="0"/>
              <a:t>Nov 19, 2025</a:t>
            </a:r>
          </a:p>
          <a:p>
            <a:endParaRPr lang="en-US" sz="1800" dirty="0"/>
          </a:p>
          <a:p>
            <a:r>
              <a:rPr lang="en-US" dirty="0"/>
              <a:t>Artificial Intelligence</a:t>
            </a:r>
          </a:p>
          <a:p>
            <a:r>
              <a:rPr lang="en-US" dirty="0"/>
              <a:t>University of Arkansas at Little Rock</a:t>
            </a:r>
          </a:p>
          <a:p>
            <a:endParaRPr lang="en-US" sz="2800" dirty="0"/>
          </a:p>
          <a:p>
            <a:endParaRPr lang="en-US" sz="1800" dirty="0"/>
          </a:p>
        </p:txBody>
      </p:sp>
      <p:pic>
        <p:nvPicPr>
          <p:cNvPr id="1026" name="Picture 2" descr="Example images from the GTSRB dataset. Identifying the class of traffic signs in the scene is the goal of the traffic sign recognition problem">
            <a:extLst>
              <a:ext uri="{FF2B5EF4-FFF2-40B4-BE49-F238E27FC236}">
                <a16:creationId xmlns:a16="http://schemas.microsoft.com/office/drawing/2014/main" id="{BD6DACDD-4FF8-D83E-6BC9-F2A7940BE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6" b="-4"/>
          <a:stretch>
            <a:fillRect/>
          </a:stretch>
        </p:blipFill>
        <p:spPr bwMode="auto">
          <a:xfrm>
            <a:off x="6723135" y="545156"/>
            <a:ext cx="5273549" cy="5767687"/>
          </a:xfrm>
          <a:custGeom>
            <a:avLst/>
            <a:gdLst/>
            <a:ahLst/>
            <a:cxnLst/>
            <a:rect l="l" t="t" r="r" b="b"/>
            <a:pathLst>
              <a:path w="3646992" h="3646991">
                <a:moveTo>
                  <a:pt x="0" y="0"/>
                </a:moveTo>
                <a:lnTo>
                  <a:pt x="1820818" y="0"/>
                </a:lnTo>
                <a:cubicBezTo>
                  <a:pt x="2829397" y="0"/>
                  <a:pt x="3646992" y="817595"/>
                  <a:pt x="3646992" y="1826174"/>
                </a:cubicBezTo>
                <a:lnTo>
                  <a:pt x="3646992" y="3646991"/>
                </a:lnTo>
                <a:lnTo>
                  <a:pt x="1826174" y="3646991"/>
                </a:lnTo>
                <a:cubicBezTo>
                  <a:pt x="817595" y="3646991"/>
                  <a:pt x="0" y="2829396"/>
                  <a:pt x="0" y="182081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622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1DCE03-1183-D1A3-FCD6-0279541D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BE131372-D9E8-4ABB-91DE-7E21E3FFB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olor Fill">
            <a:extLst>
              <a:ext uri="{FF2B5EF4-FFF2-40B4-BE49-F238E27FC236}">
                <a16:creationId xmlns:a16="http://schemas.microsoft.com/office/drawing/2014/main" id="{C80246C7-15B2-4B1C-A50F-8CA5FFB64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C9ACE2-9E30-4252-B1E6-43035ABB5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77333" y="0"/>
            <a:ext cx="2214668" cy="6192747"/>
            <a:chOff x="9977333" y="0"/>
            <a:chExt cx="2214668" cy="619274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9A30DE4-D169-4137-B79D-72D226BE31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21818" y="3254126"/>
              <a:ext cx="272587" cy="2725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A83B3C91-59FD-4841-A3B6-0AEC6FF7C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15635" y="2431541"/>
              <a:ext cx="1321642" cy="132164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94B24A1-6323-41C4-ABCB-71DD71A3D6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041380" y="4795265"/>
              <a:ext cx="1150620" cy="1397482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2358C2FC-3C49-4AE7-BF1E-3A34A9F9A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9977333" y="0"/>
              <a:ext cx="2214667" cy="221466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378C347-A7A9-4827-A4EC-EFAD14266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0093324" y="167079"/>
              <a:ext cx="1945697" cy="194569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EDF4B39-3457-4E9E-85D3-5041F4131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9982" y="3060222"/>
              <a:ext cx="612019" cy="1733435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sp>
        <p:nvSpPr>
          <p:cNvPr id="22" name="Texture">
            <a:extLst>
              <a:ext uri="{FF2B5EF4-FFF2-40B4-BE49-F238E27FC236}">
                <a16:creationId xmlns:a16="http://schemas.microsoft.com/office/drawing/2014/main" id="{05FCB4FA-A461-4C52-802B-EBF497907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E70687-501C-1C9F-FD4C-92AAE618A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793" y="0"/>
            <a:ext cx="9661483" cy="1759717"/>
          </a:xfrm>
        </p:spPr>
        <p:txBody>
          <a:bodyPr>
            <a:noAutofit/>
          </a:bodyPr>
          <a:lstStyle/>
          <a:p>
            <a:r>
              <a:rPr lang="en-US" sz="4000" dirty="0"/>
              <a:t>Traffic Sign Recognition using GTSRB (German Traffic Sign Recognition Benchmark)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0BFF7-6D03-0013-85ED-88FFA2FA2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602038"/>
            <a:ext cx="9002949" cy="256994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0296E3-2514-5EDA-03DB-AC93ED11374D}"/>
              </a:ext>
            </a:extLst>
          </p:cNvPr>
          <p:cNvSpPr txBox="1"/>
          <p:nvPr/>
        </p:nvSpPr>
        <p:spPr>
          <a:xfrm>
            <a:off x="404174" y="2214667"/>
            <a:ext cx="931033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The German Traffic Sign Benchmark</a:t>
            </a:r>
            <a:r>
              <a:rPr lang="en-US" sz="2000" dirty="0"/>
              <a:t> is a multi-class, single-image classification challenge held at the </a:t>
            </a:r>
            <a:r>
              <a:rPr lang="en-US" sz="2000" dirty="0">
                <a:hlinkClick r:id="rId3"/>
              </a:rPr>
              <a:t>International Joint Conference on Neural Networks (IJCNN) 2011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This benchmark has the following properties: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Single-image, multi-class classification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More than 40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More than 50,000 images in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Large, lifelike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Physical traffic sign instances are unique within the dataset</a:t>
            </a:r>
            <a:br>
              <a:rPr lang="en-US" sz="2000" dirty="0"/>
            </a:br>
            <a:r>
              <a:rPr lang="en-US" sz="2000" dirty="0"/>
              <a:t>(i.e., each real-world traffic sign only occurs once)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Paper Citation:  </a:t>
            </a:r>
            <a:r>
              <a:rPr lang="en-US" sz="2000" dirty="0">
                <a:solidFill>
                  <a:srgbClr val="EF08F7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http://dx.doi.org/10.1016/j.neunet.2012.02.016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4968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D603A-D05D-6012-639B-F08F22FFF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0FBC9633-620D-FD55-FE29-5D1D97B6A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olor Fill">
            <a:extLst>
              <a:ext uri="{FF2B5EF4-FFF2-40B4-BE49-F238E27FC236}">
                <a16:creationId xmlns:a16="http://schemas.microsoft.com/office/drawing/2014/main" id="{AB90FF8D-D52E-9F7B-E429-B9CBAFCB3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600675-2642-6BC2-107C-302DDDB24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77333" y="0"/>
            <a:ext cx="2214668" cy="6192747"/>
            <a:chOff x="9977333" y="0"/>
            <a:chExt cx="2214668" cy="619274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C701F37-4217-6238-90D6-29525F981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21818" y="3254126"/>
              <a:ext cx="272587" cy="2725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B33A4D09-4642-1539-1917-4A6D39329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15635" y="2431541"/>
              <a:ext cx="1321642" cy="132164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64D826D-702A-A462-CE1E-35C2E1487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041380" y="4795265"/>
              <a:ext cx="1150620" cy="1397482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4E896524-DC6D-C153-4897-4F4A7CF7B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9977333" y="0"/>
              <a:ext cx="2214667" cy="221466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745B7346-4D24-4958-612E-B05030225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0093324" y="167079"/>
              <a:ext cx="1945697" cy="194569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309D653-3107-9A5D-F819-792FFCE4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9982" y="3060222"/>
              <a:ext cx="612019" cy="1733435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sp>
        <p:nvSpPr>
          <p:cNvPr id="22" name="Texture">
            <a:extLst>
              <a:ext uri="{FF2B5EF4-FFF2-40B4-BE49-F238E27FC236}">
                <a16:creationId xmlns:a16="http://schemas.microsoft.com/office/drawing/2014/main" id="{F59F8DE6-57A6-4182-5EAD-48B9E1274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312327-B8E4-2573-242B-B30896A61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31" y="-19390"/>
            <a:ext cx="9661483" cy="1408849"/>
          </a:xfrm>
        </p:spPr>
        <p:txBody>
          <a:bodyPr>
            <a:noAutofit/>
          </a:bodyPr>
          <a:lstStyle/>
          <a:p>
            <a:r>
              <a:rPr lang="en-US" sz="4800" dirty="0"/>
              <a:t>Real-Time Use Case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83254-5D43-D56C-C238-25EB26452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602038"/>
            <a:ext cx="9002949" cy="256994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8B2398-91D8-4BD3-B81D-355EFA52788B}"/>
              </a:ext>
            </a:extLst>
          </p:cNvPr>
          <p:cNvSpPr txBox="1"/>
          <p:nvPr/>
        </p:nvSpPr>
        <p:spPr>
          <a:xfrm>
            <a:off x="545036" y="1892349"/>
            <a:ext cx="9744669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Traffic Sign Recognition is used in: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Autonomous vehicles (Tesla, Waymo): Identifying road signs to make driving decisions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ADAS (Advanced Driver Assistance Systems): Alerting drivers to speed limits, stops, and warnings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Smart traffic systems: Detecting sign compliance via cameras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9087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A2B1C-3C30-AEEF-2B46-7E5C3B680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096405D4-7625-A502-7D3B-299E1090F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olor Fill">
            <a:extLst>
              <a:ext uri="{FF2B5EF4-FFF2-40B4-BE49-F238E27FC236}">
                <a16:creationId xmlns:a16="http://schemas.microsoft.com/office/drawing/2014/main" id="{3CDF1C0A-FA5C-08F1-C3C4-D8901A015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D56D56-3407-9504-4F91-AEBFEC7F3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77333" y="0"/>
            <a:ext cx="2214668" cy="6192747"/>
            <a:chOff x="9977333" y="0"/>
            <a:chExt cx="2214668" cy="619274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970265-7E54-8B4B-BC74-7D5DC6A0D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21818" y="3254126"/>
              <a:ext cx="272587" cy="2725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67F3D528-B680-3A7D-DA77-A2D7C22EF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15635" y="2431541"/>
              <a:ext cx="1321642" cy="132164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3195ADC-2206-36E9-D39A-F35D36CAC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041380" y="4795265"/>
              <a:ext cx="1150620" cy="1397482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94F36CC9-7E6A-7E83-4B0C-6A84061BC6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9977333" y="0"/>
              <a:ext cx="2214667" cy="221466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205251A-4D49-EA07-5B83-AB610F467F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0093324" y="167079"/>
              <a:ext cx="1945697" cy="194569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B3BE015-796D-F4A7-3F38-09244F17D3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9982" y="3060222"/>
              <a:ext cx="612019" cy="1733435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sp>
        <p:nvSpPr>
          <p:cNvPr id="22" name="Texture">
            <a:extLst>
              <a:ext uri="{FF2B5EF4-FFF2-40B4-BE49-F238E27FC236}">
                <a16:creationId xmlns:a16="http://schemas.microsoft.com/office/drawing/2014/main" id="{E65008CE-0EC3-D394-CBFB-F350615F1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8FC891-8E39-9701-B5A7-CAD7D8687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837" y="-130516"/>
            <a:ext cx="9661483" cy="1408849"/>
          </a:xfrm>
        </p:spPr>
        <p:txBody>
          <a:bodyPr>
            <a:noAutofit/>
          </a:bodyPr>
          <a:lstStyle/>
          <a:p>
            <a:r>
              <a:rPr lang="en-US" dirty="0"/>
              <a:t>Relevance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4128D-8CD0-CB37-722E-172C77CF6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602038"/>
            <a:ext cx="9002949" cy="256994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90E90D-E741-5694-5320-E0DFE0128181}"/>
              </a:ext>
            </a:extLst>
          </p:cNvPr>
          <p:cNvSpPr txBox="1"/>
          <p:nvPr/>
        </p:nvSpPr>
        <p:spPr>
          <a:xfrm>
            <a:off x="455243" y="1621343"/>
            <a:ext cx="974466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paper is important because it:</a:t>
            </a:r>
          </a:p>
          <a:p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rigorous empirical comparison between humans and machines in a real‐world visual recognition task.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Offers a standardized dataset (GTSRB) that many subsequent works use for traffic sign classification and related vision challenges.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Highlights the importance of benchmark datasets, error analysis, and real‑world conditions (lighting, angles, occlusion) in evaluating vision systems.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822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85A80-A561-9531-4E4F-0E41090B6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220BC756-23DA-97F3-E04E-25E6FD9AD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olor Fill">
            <a:extLst>
              <a:ext uri="{FF2B5EF4-FFF2-40B4-BE49-F238E27FC236}">
                <a16:creationId xmlns:a16="http://schemas.microsoft.com/office/drawing/2014/main" id="{BC03CCDA-A819-DB22-4548-9BF11DDB7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32B17A-F878-B2B4-2873-970A4E83E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77333" y="0"/>
            <a:ext cx="2214668" cy="6192747"/>
            <a:chOff x="9977333" y="0"/>
            <a:chExt cx="2214668" cy="619274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0BD5A04-420F-CE89-25D4-D6180F890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21818" y="3254126"/>
              <a:ext cx="272587" cy="2725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DA452598-4DF7-56F6-6809-8B1D7609A4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15635" y="2431541"/>
              <a:ext cx="1321642" cy="132164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AD007D1-00E0-43EA-D13D-46DA929262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041380" y="4795265"/>
              <a:ext cx="1150620" cy="1397482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1771C1FF-E985-E5A7-AC67-B771CC0EF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9977333" y="0"/>
              <a:ext cx="2214667" cy="221466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078652A4-D766-7980-C8B9-4066DC05F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0093324" y="167079"/>
              <a:ext cx="1945697" cy="194569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3E2B8EE-85F9-423D-2B04-A6E7D48BB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9982" y="3060222"/>
              <a:ext cx="612019" cy="1733435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sp>
        <p:nvSpPr>
          <p:cNvPr id="22" name="Texture">
            <a:extLst>
              <a:ext uri="{FF2B5EF4-FFF2-40B4-BE49-F238E27FC236}">
                <a16:creationId xmlns:a16="http://schemas.microsoft.com/office/drawing/2014/main" id="{AD4F4F0C-6E48-0F70-9FA7-C37CD082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FE31BF-5EA0-75B8-73D2-913DD14F7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152" y="-201462"/>
            <a:ext cx="9661483" cy="1408849"/>
          </a:xfrm>
        </p:spPr>
        <p:txBody>
          <a:bodyPr>
            <a:noAutofit/>
          </a:bodyPr>
          <a:lstStyle/>
          <a:p>
            <a:r>
              <a:rPr lang="en-US" sz="4000" dirty="0"/>
              <a:t>Convolutional Neural Network (CNN)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4FBB4-2B97-4D5A-FA10-98A447F95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602038"/>
            <a:ext cx="9002949" cy="256994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EB7EA2-F276-1695-4DB9-7D3201A419A7}"/>
              </a:ext>
            </a:extLst>
          </p:cNvPr>
          <p:cNvSpPr txBox="1"/>
          <p:nvPr/>
        </p:nvSpPr>
        <p:spPr>
          <a:xfrm>
            <a:off x="454152" y="1408849"/>
            <a:ext cx="951877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A CNN is a type of deep learning model specifically designed to process grid-like data, such as images.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Key Components: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b="1" dirty="0"/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/>
              <a:t>Convolutional layers: </a:t>
            </a:r>
            <a:r>
              <a:rPr lang="en-US" altLang="en-US" sz="2800" dirty="0"/>
              <a:t>Detect local patterns like edges, shapes, and textures.</a:t>
            </a: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/>
              <a:t>Pooling layers: </a:t>
            </a:r>
            <a:r>
              <a:rPr lang="en-US" altLang="en-US" sz="2800" dirty="0"/>
              <a:t>Reduce spatial dimensions and retain important features, making the network more efficient.</a:t>
            </a: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/>
              <a:t>Fully connected layers: </a:t>
            </a:r>
            <a:r>
              <a:rPr lang="en-US" altLang="en-US" sz="2800" dirty="0"/>
              <a:t>Combine features to classify the input into categories.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6754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F3F3D-AB60-6F24-F7DA-FC3CE99E0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A45A3D55-EFF6-F152-426B-4EB1456A7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olor Fill">
            <a:extLst>
              <a:ext uri="{FF2B5EF4-FFF2-40B4-BE49-F238E27FC236}">
                <a16:creationId xmlns:a16="http://schemas.microsoft.com/office/drawing/2014/main" id="{96D71D01-41A2-1D61-7247-E0B8E6BA7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4821F93-4075-709D-5158-9A8FF9662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77333" y="0"/>
            <a:ext cx="2214668" cy="6192747"/>
            <a:chOff x="9977333" y="0"/>
            <a:chExt cx="2214668" cy="619274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A9A3E0E-36AA-F4C6-CA1B-51C7A056B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21818" y="3254126"/>
              <a:ext cx="272587" cy="2725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0CE99C13-E3A8-0099-B027-0D2E6BA3C7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15635" y="2431541"/>
              <a:ext cx="1321642" cy="132164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3A2DF19-1A3C-A460-0A9B-9FEDF0774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041380" y="4795265"/>
              <a:ext cx="1150620" cy="1397482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61DAEFC9-38F7-821F-F9B0-F37CE8A4D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9977333" y="0"/>
              <a:ext cx="2214667" cy="221466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B08C611D-2572-BE40-23DA-9EB196F1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0093324" y="167079"/>
              <a:ext cx="1945697" cy="194569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DE27F99-1F80-5B69-6297-7CAEFFBB6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9982" y="3060222"/>
              <a:ext cx="612019" cy="1733435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sp>
        <p:nvSpPr>
          <p:cNvPr id="22" name="Texture">
            <a:extLst>
              <a:ext uri="{FF2B5EF4-FFF2-40B4-BE49-F238E27FC236}">
                <a16:creationId xmlns:a16="http://schemas.microsoft.com/office/drawing/2014/main" id="{F3CFA6CA-D71A-D442-B7C9-D7B96E6F5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FCD8E6-448B-9C04-2E53-1E07C114B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-129132"/>
            <a:ext cx="10115877" cy="1409776"/>
          </a:xfrm>
        </p:spPr>
        <p:txBody>
          <a:bodyPr>
            <a:noAutofit/>
          </a:bodyPr>
          <a:lstStyle/>
          <a:p>
            <a:r>
              <a:rPr lang="en-US" sz="4800" dirty="0"/>
              <a:t>Convolutional Neural Network (CNN)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6AAFB6-AA15-69A6-F9A4-210C848E4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602038"/>
            <a:ext cx="9002949" cy="256994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B7B807-7A58-EA0D-9607-5AE3053F1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95" y="1709058"/>
            <a:ext cx="9169407" cy="426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E836AA-C610-DC64-D624-D8B4A1E95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150" y="2916018"/>
            <a:ext cx="837157" cy="10137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0048E4-7878-5185-7679-DFD9EE237CB4}"/>
              </a:ext>
            </a:extLst>
          </p:cNvPr>
          <p:cNvSpPr txBox="1"/>
          <p:nvPr/>
        </p:nvSpPr>
        <p:spPr>
          <a:xfrm>
            <a:off x="1401750" y="3467075"/>
            <a:ext cx="211887" cy="269925"/>
          </a:xfrm>
          <a:prstGeom prst="rect">
            <a:avLst/>
          </a:prstGeom>
          <a:solidFill>
            <a:srgbClr val="A3D1ED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AD8A2-EBB0-FC86-725C-F66EB3447E63}"/>
              </a:ext>
            </a:extLst>
          </p:cNvPr>
          <p:cNvSpPr txBox="1"/>
          <p:nvPr/>
        </p:nvSpPr>
        <p:spPr>
          <a:xfrm>
            <a:off x="8139465" y="4695795"/>
            <a:ext cx="356761" cy="19572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31701-C79A-BDC7-0B86-3B45C1181F94}"/>
              </a:ext>
            </a:extLst>
          </p:cNvPr>
          <p:cNvSpPr txBox="1"/>
          <p:nvPr/>
        </p:nvSpPr>
        <p:spPr>
          <a:xfrm>
            <a:off x="8056588" y="4652251"/>
            <a:ext cx="52251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90B0FA-7010-64B6-2DD8-EF38B730E352}"/>
              </a:ext>
            </a:extLst>
          </p:cNvPr>
          <p:cNvSpPr txBox="1"/>
          <p:nvPr/>
        </p:nvSpPr>
        <p:spPr>
          <a:xfrm>
            <a:off x="8589989" y="4353879"/>
            <a:ext cx="249211" cy="19572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E1D320-269A-F990-8AF8-D110FE000AE1}"/>
              </a:ext>
            </a:extLst>
          </p:cNvPr>
          <p:cNvSpPr txBox="1"/>
          <p:nvPr/>
        </p:nvSpPr>
        <p:spPr>
          <a:xfrm>
            <a:off x="9018460" y="4353879"/>
            <a:ext cx="249211" cy="19572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FB124B-96BE-6BCC-AA73-1B550F06DDF8}"/>
              </a:ext>
            </a:extLst>
          </p:cNvPr>
          <p:cNvSpPr txBox="1"/>
          <p:nvPr/>
        </p:nvSpPr>
        <p:spPr>
          <a:xfrm>
            <a:off x="9479659" y="3744797"/>
            <a:ext cx="249211" cy="19572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80B54-C845-CA67-336A-B81DD0DCC953}"/>
              </a:ext>
            </a:extLst>
          </p:cNvPr>
          <p:cNvSpPr txBox="1"/>
          <p:nvPr/>
        </p:nvSpPr>
        <p:spPr>
          <a:xfrm>
            <a:off x="8479543" y="4325040"/>
            <a:ext cx="52251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62D7A6-3B07-A22A-9D1D-9B8146E65628}"/>
              </a:ext>
            </a:extLst>
          </p:cNvPr>
          <p:cNvSpPr txBox="1"/>
          <p:nvPr/>
        </p:nvSpPr>
        <p:spPr>
          <a:xfrm>
            <a:off x="8914627" y="4325040"/>
            <a:ext cx="41365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A1AFC8-B41F-A800-2EBC-85FF3EBBDDCC}"/>
              </a:ext>
            </a:extLst>
          </p:cNvPr>
          <p:cNvSpPr txBox="1"/>
          <p:nvPr/>
        </p:nvSpPr>
        <p:spPr>
          <a:xfrm>
            <a:off x="9396024" y="3777263"/>
            <a:ext cx="41365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ADDC3A-123B-02E6-1C92-954E53089A4D}"/>
              </a:ext>
            </a:extLst>
          </p:cNvPr>
          <p:cNvSpPr txBox="1"/>
          <p:nvPr/>
        </p:nvSpPr>
        <p:spPr>
          <a:xfrm>
            <a:off x="8096382" y="5096054"/>
            <a:ext cx="6874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E95D4D-CA44-B721-4100-1C69B319375D}"/>
              </a:ext>
            </a:extLst>
          </p:cNvPr>
          <p:cNvSpPr txBox="1"/>
          <p:nvPr/>
        </p:nvSpPr>
        <p:spPr>
          <a:xfrm>
            <a:off x="8907860" y="4832600"/>
            <a:ext cx="964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Output layer (SoftMax)</a:t>
            </a:r>
          </a:p>
        </p:txBody>
      </p:sp>
    </p:spTree>
    <p:extLst>
      <p:ext uri="{BB962C8B-B14F-4D97-AF65-F5344CB8AC3E}">
        <p14:creationId xmlns:p14="http://schemas.microsoft.com/office/powerpoint/2010/main" val="426307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C38AA9-E1AD-DFA9-6C34-AE9D0F339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3E5A89DD-A7EC-28AB-C92B-0F975E11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olor Fill">
            <a:extLst>
              <a:ext uri="{FF2B5EF4-FFF2-40B4-BE49-F238E27FC236}">
                <a16:creationId xmlns:a16="http://schemas.microsoft.com/office/drawing/2014/main" id="{56D187FE-20BF-5D75-5E1E-E20CF885B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59E4ED-9A0B-94E2-6F61-3B2CD8D2C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77333" y="0"/>
            <a:ext cx="2214668" cy="6192747"/>
            <a:chOff x="9977333" y="0"/>
            <a:chExt cx="2214668" cy="619274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3BEFD59-8DE5-1023-1B42-76D8322AA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21818" y="3254126"/>
              <a:ext cx="272587" cy="2725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01758257-5B31-5210-1F18-BC9DB0E38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15635" y="2431541"/>
              <a:ext cx="1321642" cy="132164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1B2BE3C-87AC-507C-5C58-D3839E8C6D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041380" y="4795265"/>
              <a:ext cx="1150620" cy="1397482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67F8F8A3-2B26-8797-41F8-910FBD8F1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9977333" y="0"/>
              <a:ext cx="2214667" cy="221466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4E842C2-9F01-1498-3E7B-F51CBBA13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0093324" y="167079"/>
              <a:ext cx="1945697" cy="194569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13AB15B-4A46-D7F4-8D60-5B28129F6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9982" y="3060222"/>
              <a:ext cx="612019" cy="1733435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sp>
        <p:nvSpPr>
          <p:cNvPr id="22" name="Texture">
            <a:extLst>
              <a:ext uri="{FF2B5EF4-FFF2-40B4-BE49-F238E27FC236}">
                <a16:creationId xmlns:a16="http://schemas.microsoft.com/office/drawing/2014/main" id="{500396B8-A0A1-E655-536B-EFABAB627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FC02356-5E70-CA0C-4770-B77E3D8AE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556" y="-19390"/>
            <a:ext cx="9661483" cy="1408849"/>
          </a:xfrm>
        </p:spPr>
        <p:txBody>
          <a:bodyPr>
            <a:noAutofit/>
          </a:bodyPr>
          <a:lstStyle/>
          <a:p>
            <a:r>
              <a:rPr lang="en-US" dirty="0"/>
              <a:t>Importance of CNN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8ADC2-EBC0-8604-CD85-72261264C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602038"/>
            <a:ext cx="9002949" cy="256994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C72CD5-E973-7E54-7FA0-AC93BA6C9282}"/>
              </a:ext>
            </a:extLst>
          </p:cNvPr>
          <p:cNvSpPr txBox="1"/>
          <p:nvPr/>
        </p:nvSpPr>
        <p:spPr>
          <a:xfrm>
            <a:off x="477280" y="1692065"/>
            <a:ext cx="1060738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Why Do We Need CNNs Instead of Regular Neural Networks?</a:t>
            </a:r>
          </a:p>
          <a:p>
            <a:endParaRPr lang="en-US" sz="2400" dirty="0"/>
          </a:p>
          <a:p>
            <a:r>
              <a:rPr lang="en-US" sz="2400" dirty="0"/>
              <a:t>Traditional neural networks (fully connected/Dense layers):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Can't handle high-dimensional image data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Flatten the image too early, losing spatial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Have too many parameters and overfit easily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CNNs solve this by: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Looking at small parts of the image at a time (local patterns)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Reusing filters (fewer parameters)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Preserving spatial structure (position matters)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058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4342D7-79AE-2848-9F34-2CE1D7B7A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08D7E323-AF34-B0C6-1646-EFC08C5D6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olor Fill">
            <a:extLst>
              <a:ext uri="{FF2B5EF4-FFF2-40B4-BE49-F238E27FC236}">
                <a16:creationId xmlns:a16="http://schemas.microsoft.com/office/drawing/2014/main" id="{0535042B-91DF-1C08-3B51-E64D151C9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7A31C69-593A-6036-2E9D-C867A359F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77333" y="0"/>
            <a:ext cx="2214668" cy="6192747"/>
            <a:chOff x="9977333" y="0"/>
            <a:chExt cx="2214668" cy="619274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778346D-B0C7-4F77-2E0D-3C6715972E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21818" y="3254126"/>
              <a:ext cx="272587" cy="2725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C5272E85-675F-43D3-26AE-04420DE2F4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15635" y="2431541"/>
              <a:ext cx="1321642" cy="132164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B1081-5613-69E0-D3E8-05E14EC8C6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041380" y="4795265"/>
              <a:ext cx="1150620" cy="1397482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94E89123-8621-5E42-9333-F10E57F9D0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9977333" y="0"/>
              <a:ext cx="2214667" cy="221466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3E13BB52-DBDE-D62C-E65D-83CFCFE30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0093324" y="167079"/>
              <a:ext cx="1945697" cy="194569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CA5AA89-B768-7A61-F502-7FE877813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9982" y="3060222"/>
              <a:ext cx="612019" cy="1733435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sp>
        <p:nvSpPr>
          <p:cNvPr id="22" name="Texture">
            <a:extLst>
              <a:ext uri="{FF2B5EF4-FFF2-40B4-BE49-F238E27FC236}">
                <a16:creationId xmlns:a16="http://schemas.microsoft.com/office/drawing/2014/main" id="{EE5018E6-7DCF-7F11-1000-1405C3CB5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76E975B-FBE7-18AA-B90F-3B7EEEA87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556" y="-19390"/>
            <a:ext cx="9661483" cy="1408849"/>
          </a:xfrm>
        </p:spPr>
        <p:txBody>
          <a:bodyPr>
            <a:noAutofit/>
          </a:bodyPr>
          <a:lstStyle/>
          <a:p>
            <a:r>
              <a:rPr lang="en-US" dirty="0"/>
              <a:t>Project Pipeline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AF0966-6B1E-2DF9-B925-D60AA088A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189529"/>
              </p:ext>
            </p:extLst>
          </p:nvPr>
        </p:nvGraphicFramePr>
        <p:xfrm>
          <a:off x="616857" y="1847857"/>
          <a:ext cx="8328638" cy="4551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4319">
                  <a:extLst>
                    <a:ext uri="{9D8B030D-6E8A-4147-A177-3AD203B41FA5}">
                      <a16:colId xmlns:a16="http://schemas.microsoft.com/office/drawing/2014/main" val="3043861708"/>
                    </a:ext>
                  </a:extLst>
                </a:gridCol>
                <a:gridCol w="4164319">
                  <a:extLst>
                    <a:ext uri="{9D8B030D-6E8A-4147-A177-3AD203B41FA5}">
                      <a16:colId xmlns:a16="http://schemas.microsoft.com/office/drawing/2014/main" val="3910537208"/>
                    </a:ext>
                  </a:extLst>
                </a:gridCol>
              </a:tblGrid>
              <a:tr h="650297">
                <a:tc>
                  <a:txBody>
                    <a:bodyPr/>
                    <a:lstStyle/>
                    <a:p>
                      <a:r>
                        <a:rPr lang="en-US" sz="2400" dirty="0"/>
                        <a:t>Step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282227"/>
                  </a:ext>
                </a:extLst>
              </a:tr>
              <a:tr h="6177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1.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Load &amp; explore GTSRB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486449"/>
                  </a:ext>
                </a:extLst>
              </a:tr>
              <a:tr h="617741">
                <a:tc>
                  <a:txBody>
                    <a:bodyPr/>
                    <a:lstStyle/>
                    <a:p>
                      <a:r>
                        <a:rPr lang="en-US" dirty="0"/>
                        <a:t>2.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Resize, normalize, encode labels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832797"/>
                  </a:ext>
                </a:extLst>
              </a:tr>
              <a:tr h="617741">
                <a:tc>
                  <a:txBody>
                    <a:bodyPr/>
                    <a:lstStyle/>
                    <a:p>
                      <a:r>
                        <a:rPr lang="en-US" dirty="0"/>
                        <a:t>3. Model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 CNN using TensorFlow/Keras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191356"/>
                  </a:ext>
                </a:extLst>
              </a:tr>
              <a:tr h="617741">
                <a:tc>
                  <a:txBody>
                    <a:bodyPr/>
                    <a:lstStyle/>
                    <a:p>
                      <a:r>
                        <a:rPr lang="en-US" dirty="0"/>
                        <a:t>4.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Validation and tuning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185915"/>
                  </a:ext>
                </a:extLst>
              </a:tr>
              <a:tr h="617741">
                <a:tc>
                  <a:txBody>
                    <a:bodyPr/>
                    <a:lstStyle/>
                    <a:p>
                      <a:r>
                        <a:rPr lang="en-US" dirty="0"/>
                        <a:t>5.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Accuracy, confusion matrix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29474"/>
                  </a:ext>
                </a:extLst>
              </a:tr>
              <a:tr h="617741">
                <a:tc>
                  <a:txBody>
                    <a:bodyPr/>
                    <a:lstStyle/>
                    <a:p>
                      <a:r>
                        <a:rPr lang="en-US" dirty="0"/>
                        <a:t>6. Deployment 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Could be converted to web/mobile 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16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278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8E5DA-8352-DA3B-0B9F-F2E4E85E8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2E3AE81E-7DAD-FD5B-F2D2-43320CF7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olor Fill">
            <a:extLst>
              <a:ext uri="{FF2B5EF4-FFF2-40B4-BE49-F238E27FC236}">
                <a16:creationId xmlns:a16="http://schemas.microsoft.com/office/drawing/2014/main" id="{C6F70DFF-4704-DFDD-EDED-34BC41F0F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76B7DA-2AD7-D4BE-3EEA-C78498EE6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77333" y="0"/>
            <a:ext cx="2214668" cy="6192747"/>
            <a:chOff x="9977333" y="0"/>
            <a:chExt cx="2214668" cy="619274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6E69671-9C84-8A06-1135-5D3FB2DF6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21818" y="3254126"/>
              <a:ext cx="272587" cy="2725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A8100688-A793-F3E5-E11A-B97C5D66E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15635" y="2431541"/>
              <a:ext cx="1321642" cy="132164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13FF7D5-1B0F-A024-9C20-40C0CD61F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041380" y="4795265"/>
              <a:ext cx="1150620" cy="1397482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34E0CD8F-DF3E-59BA-740B-89C3DCB00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9977333" y="0"/>
              <a:ext cx="2214667" cy="221466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9D21B851-20C9-025F-2254-573203890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0093324" y="167079"/>
              <a:ext cx="1945697" cy="194569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C4FB372-19F8-80B7-DF4C-A977BEB60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9982" y="3060222"/>
              <a:ext cx="612019" cy="1733435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sp>
        <p:nvSpPr>
          <p:cNvPr id="22" name="Texture">
            <a:extLst>
              <a:ext uri="{FF2B5EF4-FFF2-40B4-BE49-F238E27FC236}">
                <a16:creationId xmlns:a16="http://schemas.microsoft.com/office/drawing/2014/main" id="{9CACB0EA-5380-3A61-1AF6-D36CF8482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9548AC-48A3-BD7B-95B7-BED7B61CF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556" y="-19390"/>
            <a:ext cx="9661483" cy="1408849"/>
          </a:xfrm>
        </p:spPr>
        <p:txBody>
          <a:bodyPr>
            <a:noAutofit/>
          </a:bodyPr>
          <a:lstStyle/>
          <a:p>
            <a:r>
              <a:rPr lang="en-US" dirty="0"/>
              <a:t>Jupyter Notebook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56C3B64-DBCC-4731-53C4-061EED6ED4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328767"/>
              </p:ext>
            </p:extLst>
          </p:nvPr>
        </p:nvGraphicFramePr>
        <p:xfrm>
          <a:off x="-23613" y="2509565"/>
          <a:ext cx="10733820" cy="145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3879739" imgH="526962" progId="Package">
                  <p:embed/>
                </p:oleObj>
              </mc:Choice>
              <mc:Fallback>
                <p:oleObj name="Packager Shell Object" showAsIcon="1" r:id="rId3" imgW="3879739" imgH="526962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23613" y="2509565"/>
                        <a:ext cx="10733820" cy="1458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3992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60B39-C609-85EB-FA0A-D02A11C62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46AD8FAB-BA9B-5E0E-8040-62F8437E4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olor Fill">
            <a:extLst>
              <a:ext uri="{FF2B5EF4-FFF2-40B4-BE49-F238E27FC236}">
                <a16:creationId xmlns:a16="http://schemas.microsoft.com/office/drawing/2014/main" id="{5873048A-9CCA-AD31-E6D0-DA14E70E8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377C65-F9C0-725E-6914-D2F9D96CD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77333" y="0"/>
            <a:ext cx="2214668" cy="6192747"/>
            <a:chOff x="9977333" y="0"/>
            <a:chExt cx="2214668" cy="619274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8EAB18A-9010-42FF-EC84-B736F09B3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21818" y="3254126"/>
              <a:ext cx="272587" cy="2725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DA7979ED-7AEC-727E-685C-F7043C3DC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15635" y="2431541"/>
              <a:ext cx="1321642" cy="132164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83FFBC-7691-C43A-0318-934E61E68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041380" y="4795265"/>
              <a:ext cx="1150620" cy="1397482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AE81D46E-F32E-B031-7434-19816BD5F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9977333" y="0"/>
              <a:ext cx="2214667" cy="221466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EFD88E30-85A2-5732-6A35-9CACB1AF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0093324" y="167079"/>
              <a:ext cx="1945697" cy="194569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719CCB7-CBDB-8542-22BD-DF7DFE3F9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9982" y="3060222"/>
              <a:ext cx="612019" cy="1733435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sp>
        <p:nvSpPr>
          <p:cNvPr id="22" name="Texture">
            <a:extLst>
              <a:ext uri="{FF2B5EF4-FFF2-40B4-BE49-F238E27FC236}">
                <a16:creationId xmlns:a16="http://schemas.microsoft.com/office/drawing/2014/main" id="{36706678-B443-20A2-0D1A-83D04000A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3DDB97A-8796-359E-51AF-293CCF8DF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4973" y="1410321"/>
            <a:ext cx="9661483" cy="2541333"/>
          </a:xfrm>
        </p:spPr>
        <p:txBody>
          <a:bodyPr>
            <a:noAutofit/>
          </a:bodyPr>
          <a:lstStyle/>
          <a:p>
            <a:pPr algn="ctr"/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76510631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Tropic">
      <a:dk1>
        <a:srgbClr val="000000"/>
      </a:dk1>
      <a:lt1>
        <a:sysClr val="window" lastClr="FFFFFF"/>
      </a:lt1>
      <a:dk2>
        <a:srgbClr val="09392F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68E74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1179</TotalTime>
  <Words>481</Words>
  <Application>Microsoft Office PowerPoint</Application>
  <PresentationFormat>Widescreen</PresentationFormat>
  <Paragraphs>81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Gill Sans Nova</vt:lpstr>
      <vt:lpstr>TropicVTI</vt:lpstr>
      <vt:lpstr>Package</vt:lpstr>
      <vt:lpstr>Traffic Sign Recognition Using Convolutional Neural Network</vt:lpstr>
      <vt:lpstr>Traffic Sign Recognition using GTSRB (German Traffic Sign Recognition Benchmark)</vt:lpstr>
      <vt:lpstr>Real-Time Use Case</vt:lpstr>
      <vt:lpstr>Relevance</vt:lpstr>
      <vt:lpstr>Convolutional Neural Network (CNN)</vt:lpstr>
      <vt:lpstr>Convolutional Neural Network (CNN)</vt:lpstr>
      <vt:lpstr>Importance of CNN</vt:lpstr>
      <vt:lpstr>Project Pipeline</vt:lpstr>
      <vt:lpstr>Jupyter Notebook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 Sharma</dc:creator>
  <cp:lastModifiedBy>Anjali Sharma</cp:lastModifiedBy>
  <cp:revision>7</cp:revision>
  <dcterms:created xsi:type="dcterms:W3CDTF">2025-11-19T00:19:44Z</dcterms:created>
  <dcterms:modified xsi:type="dcterms:W3CDTF">2025-12-03T19:27:03Z</dcterms:modified>
</cp:coreProperties>
</file>